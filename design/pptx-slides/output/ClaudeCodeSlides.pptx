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2C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617220"/>
            <a:ext cx="1828800" cy="1371600"/>
          </a:xfrm>
          <a:prstGeom prst="ellipse">
            <a:avLst/>
          </a:prstGeom>
          <a:solidFill>
            <a:srgbClr val="B4EAF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77647"/>
            <a:ext cx="1463040" cy="205740"/>
          </a:xfrm>
          <a:prstGeom prst="roundRect">
            <a:avLst>
              <a:gd name="adj" fmla="val 44444"/>
            </a:avLst>
          </a:prstGeom>
          <a:solidFill>
            <a:srgbClr val="B4EA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77647"/>
            <a:ext cx="14630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PRACTICAL GUIDE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7772400" cy="5833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Claude Code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1337767"/>
            <a:ext cx="6858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4E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Setup to Business Value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step-by-step guide for technical teams ready to ship faster with AI.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0" y="891540"/>
            <a:ext cx="1371600" cy="82296"/>
          </a:xfrm>
          <a:prstGeom prst="rect">
            <a:avLst/>
          </a:prstGeom>
          <a:solidFill>
            <a:srgbClr val="B4EA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0" y="1014984"/>
            <a:ext cx="1371600" cy="82296"/>
          </a:xfrm>
          <a:prstGeom prst="rect">
            <a:avLst/>
          </a:prstGeom>
          <a:solidFill>
            <a:srgbClr val="D2FF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0" y="1138428"/>
            <a:ext cx="1371600" cy="82296"/>
          </a:xfrm>
          <a:prstGeom prst="rect">
            <a:avLst/>
          </a:prstGeom>
          <a:solidFill>
            <a:srgbClr val="FDE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B4EA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8691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Samy Chouaf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48691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claude.ai/code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80060"/>
          </a:xfrm>
          <a:prstGeom prst="rect">
            <a:avLst/>
          </a:prstGeom>
          <a:solidFill>
            <a:srgbClr val="092C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Claude Code?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terminal-native AI agent that reads your entire codebase and acts on it.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285646"/>
            <a:ext cx="73152" cy="239573"/>
          </a:xfrm>
          <a:prstGeom prst="rect">
            <a:avLst/>
          </a:prstGeom>
          <a:solidFill>
            <a:srgbClr val="B4EA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5646"/>
            <a:ext cx="4572000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32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 in any terminal, no IDE required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73152" cy="239573"/>
          </a:xfrm>
          <a:prstGeom prst="rect">
            <a:avLst/>
          </a:prstGeom>
          <a:solidFill>
            <a:srgbClr val="D2FF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45920"/>
            <a:ext cx="4572000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32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Reads, writes, and executes autonomously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06194"/>
            <a:ext cx="73152" cy="239573"/>
          </a:xfrm>
          <a:prstGeom prst="rect">
            <a:avLst/>
          </a:prstGeom>
          <a:solidFill>
            <a:srgbClr val="FDE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06194"/>
            <a:ext cx="4572000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32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by Anthropic, powered by Claude 3.7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0" y="514807"/>
            <a:ext cx="3017520" cy="10287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0" y="514807"/>
            <a:ext cx="73152" cy="1028700"/>
          </a:xfrm>
          <a:prstGeom prst="rect">
            <a:avLst/>
          </a:prstGeom>
          <a:solidFill>
            <a:srgbClr val="B4EA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33872" y="597103"/>
            <a:ext cx="2788920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Made for engineers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33872" y="87873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CLI-first workflow, git-aware, no context switching.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1362456"/>
            <a:ext cx="3017520" cy="10287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0" y="1362456"/>
            <a:ext cx="73152" cy="1028700"/>
          </a:xfrm>
          <a:prstGeom prst="rect">
            <a:avLst/>
          </a:prstGeom>
          <a:solidFill>
            <a:srgbClr val="D2FF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33872" y="1444752"/>
            <a:ext cx="2788920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Understands your repo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33872" y="1726387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Reads all files, not just the open tab.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0" y="2211934"/>
            <a:ext cx="3017520" cy="10287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69280" y="2211934"/>
            <a:ext cx="73152" cy="1028700"/>
          </a:xfrm>
          <a:prstGeom prst="rect">
            <a:avLst/>
          </a:prstGeom>
          <a:solidFill>
            <a:srgbClr val="FDE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33872" y="2294230"/>
            <a:ext cx="2788920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Ships real work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33872" y="2575865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Runs tests, commits, opens PRs.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80060"/>
          </a:xfrm>
          <a:prstGeom prst="rect">
            <a:avLst/>
          </a:prstGeom>
          <a:solidFill>
            <a:srgbClr val="092C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1: Install and Authenticate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1053"/>
            <a:ext cx="640080" cy="480060"/>
          </a:xfrm>
          <a:prstGeom prst="ellipse">
            <a:avLst/>
          </a:prstGeom>
          <a:solidFill>
            <a:srgbClr val="B4EA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1053"/>
            <a:ext cx="6400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720547"/>
            <a:ext cx="74066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 Claude Code running in under 3 minutes.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269187"/>
            <a:ext cx="8229600" cy="1028700"/>
          </a:xfrm>
          <a:prstGeom prst="rect">
            <a:avLst/>
          </a:prstGeom>
          <a:solidFill>
            <a:srgbClr val="092C6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337767"/>
            <a:ext cx="7863840" cy="891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B4E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 Install globally via npm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npm install -g @anthropic-ai/claude-code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B4E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 Launch Claude Code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claude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434133"/>
            <a:ext cx="2743200" cy="2395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Prerequisites: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29484"/>
            <a:ext cx="1371600" cy="219456"/>
          </a:xfrm>
          <a:prstGeom prst="roundRect">
            <a:avLst>
              <a:gd name="adj" fmla="val 41667"/>
            </a:avLst>
          </a:prstGeom>
          <a:solidFill>
            <a:srgbClr val="B4EA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294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Node.js 18+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65960" y="2729484"/>
            <a:ext cx="1188720" cy="219456"/>
          </a:xfrm>
          <a:prstGeom prst="roundRect">
            <a:avLst>
              <a:gd name="adj" fmla="val 41667"/>
            </a:avLst>
          </a:prstGeom>
          <a:solidFill>
            <a:srgbClr val="D2FF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272948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npm or npx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2729484"/>
            <a:ext cx="1737360" cy="219456"/>
          </a:xfrm>
          <a:prstGeom prst="roundRect">
            <a:avLst>
              <a:gd name="adj" fmla="val 41667"/>
            </a:avLst>
          </a:prstGeom>
          <a:solidFill>
            <a:srgbClr val="FDE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7294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Anthropic API key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52267"/>
            <a:ext cx="8229600" cy="788213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086100"/>
            <a:ext cx="7863840" cy="7205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32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After launch, Claude Code will prompt for your API key. Get one at console.anthropic.com or claude.ai/code (Pro/Max plans include access).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943807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Tip: Set ANTHROPIC_API_KEY as an env variable for persistent auth across sessions.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80060"/>
          </a:xfrm>
          <a:prstGeom prst="rect">
            <a:avLst/>
          </a:prstGeom>
          <a:solidFill>
            <a:srgbClr val="092C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2: Configure Your Environment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1053"/>
            <a:ext cx="640080" cy="480060"/>
          </a:xfrm>
          <a:prstGeom prst="ellipse">
            <a:avLst/>
          </a:prstGeom>
          <a:solidFill>
            <a:srgbClr val="D2FF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1053"/>
            <a:ext cx="6400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720547"/>
            <a:ext cx="74066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Tell Claude Code about your project.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269187"/>
            <a:ext cx="4114800" cy="1714500"/>
          </a:xfrm>
          <a:prstGeom prst="rect">
            <a:avLst/>
          </a:prstGeom>
          <a:solidFill>
            <a:srgbClr val="092C6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337767"/>
            <a:ext cx="3749040" cy="1577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4E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 Set working directory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cd your-project/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B4E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 Ignore sensitive files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echo '.env' &gt;&gt; .claudeignore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B4E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 Set project context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touch CLAUDE.md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69187"/>
            <a:ext cx="4114800" cy="788213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69187"/>
            <a:ext cx="73152" cy="788213"/>
          </a:xfrm>
          <a:prstGeom prst="rect">
            <a:avLst/>
          </a:prstGeom>
          <a:solidFill>
            <a:srgbClr val="D2FF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316736"/>
            <a:ext cx="37947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.claudeignore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1563624"/>
            <a:ext cx="3794760" cy="446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Like .gitignore for Claude. Keep secrets, large binaries, and generated files out of context.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125980"/>
            <a:ext cx="4114800" cy="926287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125980"/>
            <a:ext cx="73152" cy="926287"/>
          </a:xfrm>
          <a:prstGeom prst="rect">
            <a:avLst/>
          </a:prstGeom>
          <a:solidFill>
            <a:srgbClr val="FDE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2174443"/>
            <a:ext cx="37947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CLAUDE.md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19472" y="2421331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Markdown file with project rules, architecture notes, and coding conventions Claude must follow.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97580"/>
            <a:ext cx="2468880" cy="754380"/>
          </a:xfrm>
          <a:prstGeom prst="rect">
            <a:avLst/>
          </a:prstGeom>
          <a:solidFill>
            <a:srgbClr val="B4EAFF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3538728"/>
            <a:ext cx="2249424" cy="672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 CLAUDE.md once, share with team. Everyone gets the same Claude behavior.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08960" y="3497580"/>
            <a:ext cx="2468880" cy="754380"/>
          </a:xfrm>
          <a:prstGeom prst="rect">
            <a:avLst/>
          </a:prstGeom>
          <a:solidFill>
            <a:srgbClr val="D2FF9A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91256" y="3538728"/>
            <a:ext cx="2249424" cy="672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design system docs to CLAUDE.md for consistent code style.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60720" y="3497580"/>
            <a:ext cx="2468880" cy="754380"/>
          </a:xfrm>
          <a:prstGeom prst="rect">
            <a:avLst/>
          </a:prstGeom>
          <a:solidFill>
            <a:srgbClr val="FDE68A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43016" y="3538728"/>
            <a:ext cx="2249424" cy="672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.claudeignore to prevent accidental exposure of credentials.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80060"/>
          </a:xfrm>
          <a:prstGeom prst="rect">
            <a:avLst/>
          </a:prstGeom>
          <a:solidFill>
            <a:srgbClr val="092C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3: Run Your First Task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1053"/>
            <a:ext cx="640080" cy="48006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1053"/>
            <a:ext cx="6400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720547"/>
            <a:ext cx="74066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Natural language in, working code out.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1269187"/>
            <a:ext cx="3931920" cy="1645920"/>
          </a:xfrm>
          <a:prstGeom prst="rect">
            <a:avLst/>
          </a:prstGeom>
          <a:solidFill>
            <a:srgbClr val="092C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51483"/>
            <a:ext cx="35661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TYPE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612087"/>
            <a:ext cx="3566160" cy="12006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"Fix the failing tests in the auth module and add error handling for null tokens."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70832" y="178308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DE6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754880" y="1269187"/>
            <a:ext cx="3931920" cy="1645920"/>
          </a:xfrm>
          <a:prstGeom prst="rect">
            <a:avLst/>
          </a:prstGeom>
          <a:solidFill>
            <a:srgbClr val="D2FF9A">
              <a:alpha val="30000"/>
            </a:srgbClr>
          </a:solidFill>
          <a:ln w="12700">
            <a:solidFill>
              <a:srgbClr val="D2FF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351483"/>
            <a:ext cx="35661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CLAUDE DOES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612087"/>
            <a:ext cx="3566160" cy="12006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2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Reads all test files and auth module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2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Identifies 3 failing assertions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2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Patches auth.js with null checks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232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Re-runs tests: 14/14 pass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0861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Try these starter tasks: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462833"/>
            <a:ext cx="2286000" cy="260604"/>
          </a:xfrm>
          <a:prstGeom prst="roundRect">
            <a:avLst>
              <a:gd name="adj" fmla="val 35088"/>
            </a:avLst>
          </a:prstGeom>
          <a:solidFill>
            <a:srgbClr val="B4EA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62833"/>
            <a:ext cx="22860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Write a unit test for 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17520" y="3462833"/>
            <a:ext cx="2286000" cy="260604"/>
          </a:xfrm>
          <a:prstGeom prst="roundRect">
            <a:avLst>
              <a:gd name="adj" fmla="val 35088"/>
            </a:avLst>
          </a:prstGeom>
          <a:solidFill>
            <a:srgbClr val="D2FF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3462833"/>
            <a:ext cx="22860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Refactor this function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77840" y="3462833"/>
            <a:ext cx="2697480" cy="260604"/>
          </a:xfrm>
          <a:prstGeom prst="roundRect">
            <a:avLst>
              <a:gd name="adj" fmla="val 35088"/>
            </a:avLst>
          </a:prstGeom>
          <a:solidFill>
            <a:srgbClr val="FDE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3462833"/>
            <a:ext cx="26974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Generate JSDoc comments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2C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1907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Use Cases: Engineering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583387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E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Claude Code pays back fastest for dev teams.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3931920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3931920" cy="54864"/>
          </a:xfrm>
          <a:prstGeom prst="rect">
            <a:avLst/>
          </a:prstGeom>
          <a:solidFill>
            <a:srgbClr val="B4EA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3893" y="1069848"/>
            <a:ext cx="3657600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Code Review at Scale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13893" y="134416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Claude reviews every PR for logic errors, missing tests, and style violations. Ships in parallel with your team.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3893" y="2318004"/>
            <a:ext cx="2560320" cy="205740"/>
          </a:xfrm>
          <a:prstGeom prst="roundRect">
            <a:avLst>
              <a:gd name="adj" fmla="val 44444"/>
            </a:avLst>
          </a:prstGeom>
          <a:solidFill>
            <a:srgbClr val="B4EA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3893" y="2318004"/>
            <a:ext cx="2560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3x faster reviews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960120"/>
            <a:ext cx="3931920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960120"/>
            <a:ext cx="3931920" cy="54864"/>
          </a:xfrm>
          <a:prstGeom prst="rect">
            <a:avLst/>
          </a:prstGeom>
          <a:solidFill>
            <a:srgbClr val="D2FF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3013" y="1069848"/>
            <a:ext cx="3657600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 Generation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03013" y="134416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Describe a function, get full test suites. Covers edge cases human reviewers miss.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03013" y="2318004"/>
            <a:ext cx="2560320" cy="205740"/>
          </a:xfrm>
          <a:prstGeom prst="roundRect">
            <a:avLst>
              <a:gd name="adj" fmla="val 44444"/>
            </a:avLst>
          </a:prstGeom>
          <a:solidFill>
            <a:srgbClr val="D2FF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03013" y="2318004"/>
            <a:ext cx="2560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80% test coverage baseline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811780"/>
            <a:ext cx="3931920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811780"/>
            <a:ext cx="3931920" cy="54864"/>
          </a:xfrm>
          <a:prstGeom prst="rect">
            <a:avLst/>
          </a:prstGeom>
          <a:solidFill>
            <a:srgbClr val="FDE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3893" y="2921508"/>
            <a:ext cx="3657600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Codebase Onboarding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3893" y="319582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hire asks Claude to explain any module, trace data flows, or map dependencies instantly.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13893" y="4169664"/>
            <a:ext cx="2560320" cy="205740"/>
          </a:xfrm>
          <a:prstGeom prst="roundRect">
            <a:avLst>
              <a:gd name="adj" fmla="val 44444"/>
            </a:avLst>
          </a:prstGeom>
          <a:solidFill>
            <a:srgbClr val="FDE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3893" y="4169664"/>
            <a:ext cx="2560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1 productivity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2811780"/>
            <a:ext cx="3931920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2811780"/>
            <a:ext cx="3931920" cy="54864"/>
          </a:xfrm>
          <a:prstGeom prst="rect">
            <a:avLst/>
          </a:prstGeom>
          <a:solidFill>
            <a:srgbClr val="FFE6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03013" y="2921508"/>
            <a:ext cx="3657600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Bug Triage and Fix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03013" y="319582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Paste a stack trace. Claude locates the root cause, proposes a patch, and opens a PR.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03013" y="4169664"/>
            <a:ext cx="2560320" cy="205740"/>
          </a:xfrm>
          <a:prstGeom prst="roundRect">
            <a:avLst>
              <a:gd name="adj" fmla="val 44444"/>
            </a:avLst>
          </a:prstGeom>
          <a:solidFill>
            <a:srgbClr val="FFE6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03013" y="4169664"/>
            <a:ext cx="2560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Minutes not hours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80060"/>
          </a:xfrm>
          <a:prstGeom prst="rect">
            <a:avLst/>
          </a:prstGeom>
          <a:solidFill>
            <a:srgbClr val="092C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Use Cases: Beyond Engineering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14807"/>
            <a:ext cx="8229600" cy="2395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232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Non-engineering teams unlock value faster than you expect.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788213"/>
            <a:ext cx="26517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891540"/>
            <a:ext cx="731520" cy="548640"/>
          </a:xfrm>
          <a:prstGeom prst="ellipse">
            <a:avLst/>
          </a:prstGeom>
          <a:solidFill>
            <a:srgbClr val="B4EA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8915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0060" y="1543507"/>
            <a:ext cx="2468880" cy="3090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and Ops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886407"/>
            <a:ext cx="2651760" cy="34747"/>
          </a:xfrm>
          <a:prstGeom prst="rect">
            <a:avLst/>
          </a:prstGeom>
          <a:solidFill>
            <a:srgbClr val="B4EA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" y="1954987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PRDs and specs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 SQL queries via natural language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 repetitive scripts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Parse and summarize logs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" y="3374136"/>
            <a:ext cx="2468880" cy="205740"/>
          </a:xfrm>
          <a:prstGeom prst="roundRect">
            <a:avLst>
              <a:gd name="adj" fmla="val 44444"/>
            </a:avLst>
          </a:prstGeom>
          <a:solidFill>
            <a:srgbClr val="B4EA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" y="3374136"/>
            <a:ext cx="2468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SQL skills required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788213"/>
            <a:ext cx="26517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0" y="891540"/>
            <a:ext cx="731520" cy="548640"/>
          </a:xfrm>
          <a:prstGeom prst="ellipse">
            <a:avLst/>
          </a:prstGeom>
          <a:solidFill>
            <a:srgbClr val="D2FF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8915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14700" y="1543507"/>
            <a:ext cx="2468880" cy="3090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and Analytics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46120" y="1886407"/>
            <a:ext cx="2651760" cy="34747"/>
          </a:xfrm>
          <a:prstGeom prst="rect">
            <a:avLst/>
          </a:prstGeom>
          <a:solidFill>
            <a:srgbClr val="D2FF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4700" y="1954987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Python data pipelines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 and transform datasets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Generate chart scaffolding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Explain complex queries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14700" y="3374136"/>
            <a:ext cx="2468880" cy="205740"/>
          </a:xfrm>
          <a:prstGeom prst="roundRect">
            <a:avLst>
              <a:gd name="adj" fmla="val 44444"/>
            </a:avLst>
          </a:prstGeom>
          <a:solidFill>
            <a:srgbClr val="D2FF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4700" y="3374136"/>
            <a:ext cx="2468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10x faster pipeline setup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0760" y="788213"/>
            <a:ext cx="26517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92240" y="891540"/>
            <a:ext cx="731520" cy="54864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8915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49340" y="1543507"/>
            <a:ext cx="2468880" cy="3090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Security and Compliance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80760" y="1886407"/>
            <a:ext cx="2651760" cy="34747"/>
          </a:xfrm>
          <a:prstGeom prst="rect">
            <a:avLst/>
          </a:prstGeom>
          <a:solidFill>
            <a:srgbClr val="FDE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9340" y="1954987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 dependency vulnerabilities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Generate security checklists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config for misconfigs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policy documentation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49340" y="3374136"/>
            <a:ext cx="2468880" cy="205740"/>
          </a:xfrm>
          <a:prstGeom prst="roundRect">
            <a:avLst>
              <a:gd name="adj" fmla="val 44444"/>
            </a:avLst>
          </a:prstGeom>
          <a:solidFill>
            <a:srgbClr val="FDE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9340" y="3374136"/>
            <a:ext cx="2468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Continuous audit coverage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2C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5740"/>
            <a:ext cx="8229600" cy="4462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Today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720547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4E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numbers. Three steps.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797357"/>
            <a:ext cx="4114800" cy="926287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99770"/>
            <a:ext cx="3749040" cy="3776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DE6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min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312164"/>
            <a:ext cx="3749040" cy="3090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your first completed task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20317"/>
            <a:ext cx="4114800" cy="926287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22730"/>
            <a:ext cx="3749040" cy="3776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DE6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2135124"/>
            <a:ext cx="3749040" cy="3090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faster code reviews on average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43277"/>
            <a:ext cx="4114800" cy="926287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45690"/>
            <a:ext cx="3749040" cy="3776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DE6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" y="2958084"/>
            <a:ext cx="3749040" cy="3090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 dependency. Works in any terminal.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063447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next 3 steps: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46320" y="1079906"/>
            <a:ext cx="411480" cy="309067"/>
          </a:xfrm>
          <a:prstGeom prst="ellipse">
            <a:avLst/>
          </a:prstGeom>
          <a:solidFill>
            <a:srgbClr val="B4EA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079906"/>
            <a:ext cx="411480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76672" y="1079906"/>
            <a:ext cx="32918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 Claude Code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76672" y="1306678"/>
            <a:ext cx="3291840" cy="342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E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npm install -g @anthropic-ai/claude-code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1645920"/>
            <a:ext cx="411480" cy="309067"/>
          </a:xfrm>
          <a:prstGeom prst="ellipse">
            <a:avLst/>
          </a:prstGeom>
          <a:solidFill>
            <a:srgbClr val="B4EA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645920"/>
            <a:ext cx="411480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76672" y="1645920"/>
            <a:ext cx="32918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 one real task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76672" y="1872691"/>
            <a:ext cx="3291840" cy="342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E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Pick a ticket from your backlog and try it now.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211934"/>
            <a:ext cx="411480" cy="309067"/>
          </a:xfrm>
          <a:prstGeom prst="ellipse">
            <a:avLst/>
          </a:prstGeom>
          <a:solidFill>
            <a:srgbClr val="B4EA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211934"/>
            <a:ext cx="411480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76672" y="2211934"/>
            <a:ext cx="32918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 CLAUDE.md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76672" y="2438705"/>
            <a:ext cx="3291840" cy="342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4E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your conventions and roll it out to the team.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B4EA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claude.ai/code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Code: From Setup to Business Value</dc:title>
  <dc:subject>PptxGenJS Presentation</dc:subject>
  <dc:creator>Samy Chouaf</dc:creator>
  <cp:lastModifiedBy>Samy Chouaf</cp:lastModifiedBy>
  <cp:revision>1</cp:revision>
  <dcterms:created xsi:type="dcterms:W3CDTF">2026-05-30T07:29:45Z</dcterms:created>
  <dcterms:modified xsi:type="dcterms:W3CDTF">2026-05-30T07:29:45Z</dcterms:modified>
</cp:coreProperties>
</file>