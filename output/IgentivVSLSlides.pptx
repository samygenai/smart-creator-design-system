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ContentType="application/vnd.openxmlformats-officedocument.presentationml.slide+xml" PartName="/ppt/slides/slide1.xml"/>
  <Override ContentType="application/vnd.openxmlformats-officedocument.presentationml.notesSlide+xml" PartName="/ppt/notesSlides/notesSlide1.xml"/>
  <Override ContentType="application/vnd.openxmlformats-officedocument.presentationml.slide+xml" PartName="/ppt/slides/slide2.xml"/>
  <Override ContentType="application/vnd.openxmlformats-officedocument.presentationml.notesSlide+xml" PartName="/ppt/notesSlides/notesSlide2.xml"/>
  <Override ContentType="application/vnd.openxmlformats-officedocument.presentationml.slide+xml" PartName="/ppt/slides/slide3.xml"/>
  <Override ContentType="application/vnd.openxmlformats-officedocument.presentationml.notesSlide+xml" PartName="/ppt/notesSlides/notesSlide3.xml"/>
  <Override ContentType="application/vnd.openxmlformats-officedocument.presentationml.slide+xml" PartName="/ppt/slides/slide4.xml"/>
  <Override ContentType="application/vnd.openxmlformats-officedocument.presentationml.notesSlide+xml" PartName="/ppt/notesSlides/notesSlide4.xml"/>
  <Override ContentType="application/vnd.openxmlformats-officedocument.presentationml.slide+xml" PartName="/ppt/slides/slide5.xml"/>
  <Override ContentType="application/vnd.openxmlformats-officedocument.presentationml.notesSlide+xml" PartName="/ppt/notesSlides/notesSlide5.xml"/>
  <Override ContentType="application/vnd.openxmlformats-officedocument.presentationml.slide+xml" PartName="/ppt/slides/slide6.xml"/>
  <Override ContentType="application/vnd.openxmlformats-officedocument.presentationml.notesSlide+xml" PartName="/ppt/notesSlides/notesSlide6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3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6" Type="http://schemas.openxmlformats.org/officeDocument/2006/relationships/font" Target="fonts/Montserrat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DB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285921"/>
            <a:ext cx="5286421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B2B Expertise, Built for Revenue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71500" y="2857500"/>
            <a:ext cx="5286421" cy="571500"/>
          </a:xfrm>
          <a:prstGeom prst="roundRect">
            <a:avLst>
              <a:gd name="adj" fmla="val 16000"/>
            </a:avLst>
          </a:prstGeom>
          <a:solidFill>
            <a:srgbClr val="F5F0E6"/>
          </a:solidFill>
          <a:ln>
            <a:noFill/>
          </a:ln>
        </p:spPr>
      </p:sp>
      <p:sp>
        <p:nvSpPr>
          <p:cNvPr id="4" name="Text 2"/>
          <p:cNvSpPr/>
          <p:nvPr/>
        </p:nvSpPr>
        <p:spPr>
          <a:xfrm>
            <a:off x="754380" y="2857500"/>
            <a:ext cx="4920661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2324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Consultant turned content strategist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0" y="428671"/>
            <a:ext cx="2428921" cy="41434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DB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71" y="400050"/>
            <a:ext cx="8286750" cy="571500"/>
          </a:xfrm>
          <a:prstGeom prst="roundRect">
            <a:avLst>
              <a:gd name="adj" fmla="val 16000"/>
            </a:avLst>
          </a:prstGeom>
          <a:solidFill>
            <a:srgbClr val="092C69"/>
          </a:solidFill>
          <a:ln>
            <a:noFill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57271" y="400050"/>
            <a:ext cx="78295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Old Playbook Is Broken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28671" y="1143000"/>
            <a:ext cx="8286750" cy="893003"/>
          </a:xfrm>
          <a:prstGeom prst="roundRect">
            <a:avLst>
              <a:gd name="adj" fmla="val 10240"/>
            </a:avLst>
          </a:prstGeom>
          <a:solidFill>
            <a:srgbClr val="F3EFE2"/>
          </a:solidFill>
          <a:ln>
            <a:noFill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9839" y="1418052"/>
            <a:ext cx="342900" cy="342900"/>
          </a:xfrm>
          <a:prstGeom prst="roundRect">
            <a:avLst>
              <a:gd name="adj" fmla="val 16000"/>
            </a:avLst>
          </a:prstGeom>
          <a:solidFill>
            <a:srgbClr val="FFD6D6"/>
          </a:solidFill>
          <a:ln>
            <a:noFill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991" y="1495204"/>
            <a:ext cx="188595" cy="1885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5619" y="1197864"/>
            <a:ext cx="7285482" cy="357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Cold email is dead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55619" y="1518061"/>
            <a:ext cx="7285482" cy="4465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718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Inboxes are flooded, reply rates are near zero. Buyers ignore everything templated.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80560" y="2072579"/>
            <a:ext cx="182880" cy="126919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</p:sp>
      <p:sp>
        <p:nvSpPr>
          <p:cNvPr id="10" name="Shape 7"/>
          <p:cNvSpPr/>
          <p:nvPr/>
        </p:nvSpPr>
        <p:spPr>
          <a:xfrm>
            <a:off x="428671" y="2236074"/>
            <a:ext cx="8286750" cy="893003"/>
          </a:xfrm>
          <a:prstGeom prst="roundRect">
            <a:avLst>
              <a:gd name="adj" fmla="val 10240"/>
            </a:avLst>
          </a:prstGeom>
          <a:solidFill>
            <a:srgbClr val="F3EFE2"/>
          </a:solidFill>
          <a:ln>
            <a:noFill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9839" y="2511125"/>
            <a:ext cx="342900" cy="342900"/>
          </a:xfrm>
          <a:prstGeom prst="roundRect">
            <a:avLst>
              <a:gd name="adj" fmla="val 16000"/>
            </a:avLst>
          </a:prstGeom>
          <a:solidFill>
            <a:srgbClr val="FFF3D6"/>
          </a:solidFill>
          <a:ln>
            <a:noFill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91" y="2588278"/>
            <a:ext cx="188595" cy="1885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55619" y="2290938"/>
            <a:ext cx="7285482" cy="357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Content takes too long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55619" y="2611135"/>
            <a:ext cx="7285482" cy="4465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718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Most teams spend weeks on a post that gets 12 likes and zero leads.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480560" y="3165653"/>
            <a:ext cx="182880" cy="126919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</p:sp>
      <p:sp>
        <p:nvSpPr>
          <p:cNvPr id="16" name="Shape 12"/>
          <p:cNvSpPr/>
          <p:nvPr/>
        </p:nvSpPr>
        <p:spPr>
          <a:xfrm>
            <a:off x="428671" y="3329148"/>
            <a:ext cx="8286750" cy="893003"/>
          </a:xfrm>
          <a:prstGeom prst="roundRect">
            <a:avLst>
              <a:gd name="adj" fmla="val 10240"/>
            </a:avLst>
          </a:prstGeom>
          <a:solidFill>
            <a:srgbClr val="F3EFE2"/>
          </a:solidFill>
          <a:ln>
            <a:noFill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9839" y="3604199"/>
            <a:ext cx="342900" cy="342900"/>
          </a:xfrm>
          <a:prstGeom prst="roundRect">
            <a:avLst>
              <a:gd name="adj" fmla="val 16000"/>
            </a:avLst>
          </a:prstGeom>
          <a:solidFill>
            <a:srgbClr val="D6E8FF"/>
          </a:solidFill>
          <a:ln>
            <a:noFill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91" y="3681352"/>
            <a:ext cx="188595" cy="18859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55619" y="3384012"/>
            <a:ext cx="7285482" cy="357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LinkedIn is a red ocean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55619" y="3704209"/>
            <a:ext cx="7285482" cy="4465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718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Everyone is posting, but very few position themselves as the expert buyers trust.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14421" y="4643415"/>
            <a:ext cx="7715250" cy="357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2C6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 how do you stand out and get clients, without burning 20 hours a week?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DB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71" y="400050"/>
            <a:ext cx="8286750" cy="571500"/>
          </a:xfrm>
          <a:prstGeom prst="roundRect">
            <a:avLst>
              <a:gd name="adj" fmla="val 16000"/>
            </a:avLst>
          </a:prstGeom>
          <a:solidFill>
            <a:srgbClr val="092C69"/>
          </a:solidFill>
          <a:ln>
            <a:noFill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57271" y="400050"/>
            <a:ext cx="78295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Levers, One System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2869" y="1250168"/>
            <a:ext cx="3571921" cy="2143171"/>
          </a:xfrm>
          <a:prstGeom prst="roundRect">
            <a:avLst>
              <a:gd name="adj" fmla="val 4267"/>
            </a:avLst>
          </a:prstGeom>
          <a:solidFill>
            <a:srgbClr val="F3EFE2"/>
          </a:solidFill>
          <a:ln>
            <a:noFill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28804" y="1478768"/>
            <a:ext cx="400050" cy="400050"/>
          </a:xfrm>
          <a:prstGeom prst="roundRect">
            <a:avLst>
              <a:gd name="adj" fmla="val 13714"/>
            </a:avLst>
          </a:prstGeom>
          <a:solidFill>
            <a:srgbClr val="B4EAFF"/>
          </a:solidFill>
          <a:ln>
            <a:noFill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8816" y="1568779"/>
            <a:ext cx="220028" cy="2200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0029" y="1988546"/>
            <a:ext cx="3297601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Premium Content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71469" y="2336018"/>
            <a:ext cx="3114721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8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High-quality posts that position you as the go-to expert. Content builds trust before the first call.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29210" y="1250168"/>
            <a:ext cx="3571921" cy="2143171"/>
          </a:xfrm>
          <a:prstGeom prst="roundRect">
            <a:avLst>
              <a:gd name="adj" fmla="val 4267"/>
            </a:avLst>
          </a:prstGeom>
          <a:solidFill>
            <a:srgbClr val="F3EFE2"/>
          </a:solidFill>
          <a:ln>
            <a:noFill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5146" y="1478768"/>
            <a:ext cx="400050" cy="400050"/>
          </a:xfrm>
          <a:prstGeom prst="roundRect">
            <a:avLst>
              <a:gd name="adj" fmla="val 13714"/>
            </a:avLst>
          </a:prstGeom>
          <a:solidFill>
            <a:srgbClr val="B4EAFF"/>
          </a:solidFill>
          <a:ln>
            <a:noFill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157" y="1568779"/>
            <a:ext cx="220028" cy="2200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66370" y="1988546"/>
            <a:ext cx="3297601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Targeted Leads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157810" y="2336018"/>
            <a:ext cx="3114721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8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Real buying signals tell you who's ready to talk. No cold outreach, just warm conversations.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429125" y="2178878"/>
            <a:ext cx="285750" cy="285750"/>
          </a:xfrm>
          <a:prstGeom prst="ellipse">
            <a:avLst/>
          </a:prstGeom>
          <a:solidFill>
            <a:srgbClr val="092C69"/>
          </a:solidFill>
          <a:ln>
            <a:noFill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429125" y="2178878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+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0" y="3786165"/>
            <a:ext cx="9144000" cy="2000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1718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IGENTIV STUDIO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0" y="4000500"/>
            <a:ext cx="9144000" cy="3929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We handle both.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DB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71" y="400050"/>
            <a:ext cx="8286750" cy="571500"/>
          </a:xfrm>
          <a:prstGeom prst="roundRect">
            <a:avLst>
              <a:gd name="adj" fmla="val 16000"/>
            </a:avLst>
          </a:prstGeom>
          <a:solidFill>
            <a:srgbClr val="092C69"/>
          </a:solidFill>
          <a:ln>
            <a:noFill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57271" y="400050"/>
            <a:ext cx="78295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How We Do It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28671" y="1143000"/>
            <a:ext cx="8286750" cy="571500"/>
          </a:xfrm>
          <a:prstGeom prst="roundRect">
            <a:avLst>
              <a:gd name="adj" fmla="val 16000"/>
            </a:avLst>
          </a:prstGeom>
          <a:solidFill>
            <a:srgbClr val="F3EFE2"/>
          </a:solidFill>
          <a:ln>
            <a:noFill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51" y="1271565"/>
            <a:ext cx="314371" cy="3143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0513" y="1143000"/>
            <a:ext cx="7350587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Brand System   </a:t>
            </a:r>
            <a:pPr indent="0" marL="0">
              <a:buNone/>
            </a:pPr>
            <a:r>
              <a:rPr lang="en-US" sz="1100" dirty="0">
                <a:solidFill>
                  <a:srgbClr val="71718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Design system, voice, structured context built first.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28671" y="1814535"/>
            <a:ext cx="8286750" cy="571500"/>
          </a:xfrm>
          <a:prstGeom prst="roundRect">
            <a:avLst>
              <a:gd name="adj" fmla="val 16000"/>
            </a:avLst>
          </a:prstGeom>
          <a:solidFill>
            <a:srgbClr val="F3EFE2"/>
          </a:solidFill>
          <a:ln>
            <a:noFill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51" y="1943100"/>
            <a:ext cx="314371" cy="31437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0513" y="1814535"/>
            <a:ext cx="7350587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Weekly Content   </a:t>
            </a:r>
            <a:pPr indent="0" marL="0">
              <a:buNone/>
            </a:pPr>
            <a:r>
              <a:rPr lang="en-US" sz="1100" dirty="0">
                <a:solidFill>
                  <a:srgbClr val="71718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AI + human systems. Your audience can't tell.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28671" y="2486071"/>
            <a:ext cx="8286750" cy="571500"/>
          </a:xfrm>
          <a:prstGeom prst="roundRect">
            <a:avLst>
              <a:gd name="adj" fmla="val 16000"/>
            </a:avLst>
          </a:prstGeom>
          <a:solidFill>
            <a:srgbClr val="F3EFE2"/>
          </a:solidFill>
          <a:ln>
            <a:noFill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51" y="2614635"/>
            <a:ext cx="314371" cy="31437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0513" y="2486071"/>
            <a:ext cx="7350587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Fresh Leads   </a:t>
            </a:r>
            <a:pPr indent="0" marL="0">
              <a:buNone/>
            </a:pPr>
            <a:r>
              <a:rPr lang="en-US" sz="1100" dirty="0">
                <a:solidFill>
                  <a:srgbClr val="71718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Matched to your ICP, filtered by intent signals.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DB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28750"/>
            <a:ext cx="6858000" cy="2286000"/>
          </a:xfrm>
          <a:prstGeom prst="roundRect">
            <a:avLst>
              <a:gd name="adj" fmla="val 4000"/>
            </a:avLst>
          </a:prstGeom>
          <a:solidFill>
            <a:srgbClr val="F5F0E6"/>
          </a:solidFill>
          <a:ln>
            <a:noFill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508760" y="1703070"/>
            <a:ext cx="61264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We position you as the expert, find the leads, you close.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316611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8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Book a 15-min call. No pitch, just conversation.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DB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0" y="714421"/>
            <a:ext cx="1143000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00250" y="2114550"/>
            <a:ext cx="5143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Follow for more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0" y="2857500"/>
            <a:ext cx="9144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2C6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Samy Chouaf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